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6" r:id="rId3"/>
    <p:sldId id="257" r:id="rId4"/>
    <p:sldId id="258" r:id="rId5"/>
    <p:sldId id="263" r:id="rId6"/>
    <p:sldId id="259" r:id="rId7"/>
    <p:sldId id="267" r:id="rId8"/>
    <p:sldId id="261" r:id="rId9"/>
    <p:sldId id="268" r:id="rId10"/>
    <p:sldId id="270" r:id="rId11"/>
    <p:sldId id="282" r:id="rId12"/>
    <p:sldId id="269" r:id="rId13"/>
    <p:sldId id="271" r:id="rId14"/>
    <p:sldId id="272" r:id="rId15"/>
    <p:sldId id="281" r:id="rId16"/>
    <p:sldId id="274" r:id="rId17"/>
    <p:sldId id="273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75" d="100"/>
          <a:sy n="75" d="100"/>
        </p:scale>
        <p:origin x="-426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6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DE8B4C-FE9C-4CD2-83F0-48981AFBB0D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A55E4-F162-46F1-B028-F9B3DB3971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429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, </a:t>
            </a:r>
            <a:r>
              <a:rPr lang="ko-KR" altLang="en-US" dirty="0"/>
              <a:t>플랫폼 비즈니스의 경제적 분석이라는 제목으로 발표를 진행하도록 하겠습니다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55E4-F162-46F1-B028-F9B3DB39712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957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55E4-F162-46F1-B028-F9B3DB39712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373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</a:t>
            </a:r>
            <a:r>
              <a:rPr lang="en-US" altLang="ko-KR" dirty="0"/>
              <a:t>, </a:t>
            </a:r>
            <a:r>
              <a:rPr lang="ko-KR" altLang="en-US" dirty="0"/>
              <a:t>플랫폼 비즈니스가 무엇인지 </a:t>
            </a:r>
            <a:r>
              <a:rPr lang="ko-KR" altLang="en-US" dirty="0" err="1"/>
              <a:t>알아야합니다</a:t>
            </a:r>
            <a:r>
              <a:rPr lang="en-US" altLang="ko-KR" dirty="0"/>
              <a:t>. </a:t>
            </a:r>
            <a:r>
              <a:rPr lang="ko-KR" altLang="en-US" dirty="0"/>
              <a:t>플랫폼 비즈니스란</a:t>
            </a:r>
            <a:r>
              <a:rPr lang="en-US" altLang="ko-KR" dirty="0"/>
              <a:t>, </a:t>
            </a:r>
            <a:r>
              <a:rPr lang="ko-KR" altLang="en-US" dirty="0"/>
              <a:t>생산자와 소비자가 상호작용을 하며 가치를 창출할 수 있는 비즈니스를 의미합니다</a:t>
            </a:r>
            <a:r>
              <a:rPr lang="en-US" altLang="ko-KR" dirty="0"/>
              <a:t>. </a:t>
            </a:r>
            <a:r>
              <a:rPr lang="ko-KR" altLang="en-US" dirty="0"/>
              <a:t>예를 들면</a:t>
            </a:r>
            <a:r>
              <a:rPr lang="en-US" altLang="ko-KR" dirty="0"/>
              <a:t>, </a:t>
            </a:r>
            <a:r>
              <a:rPr lang="ko-KR" altLang="en-US" dirty="0"/>
              <a:t>인스타그램</a:t>
            </a:r>
            <a:r>
              <a:rPr lang="en-US" altLang="ko-KR" dirty="0"/>
              <a:t>, </a:t>
            </a:r>
            <a:r>
              <a:rPr lang="ko-KR" altLang="en-US" dirty="0"/>
              <a:t>아마존</a:t>
            </a:r>
            <a:r>
              <a:rPr lang="en-US" altLang="ko-KR" dirty="0"/>
              <a:t>, </a:t>
            </a:r>
            <a:r>
              <a:rPr lang="ko-KR" altLang="en-US" dirty="0" err="1"/>
              <a:t>넷플릭스</a:t>
            </a:r>
            <a:r>
              <a:rPr lang="en-US" altLang="ko-KR" dirty="0"/>
              <a:t>, </a:t>
            </a:r>
            <a:r>
              <a:rPr lang="ko-KR" altLang="en-US" dirty="0"/>
              <a:t>우버 등이 모두 플랫폼에 해당합니다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55E4-F162-46F1-B028-F9B3DB39712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856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55E4-F162-46F1-B028-F9B3DB39712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084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55E4-F162-46F1-B028-F9B3DB39712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955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55E4-F162-46F1-B028-F9B3DB39712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765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55E4-F162-46F1-B028-F9B3DB39712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413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플랫폼 산업은 대부분 독과점 시장에 해당합니다</a:t>
            </a:r>
            <a:r>
              <a:rPr lang="en-US" altLang="ko-KR" dirty="0"/>
              <a:t>. </a:t>
            </a:r>
            <a:r>
              <a:rPr lang="ko-KR" altLang="en-US" dirty="0"/>
              <a:t>위 </a:t>
            </a:r>
            <a:r>
              <a:rPr lang="en-US" altLang="ko-KR" dirty="0"/>
              <a:t>4</a:t>
            </a:r>
            <a:r>
              <a:rPr lang="ko-KR" altLang="en-US" dirty="0"/>
              <a:t>개는 분야별 예시를 가져온 것입니다</a:t>
            </a:r>
            <a:r>
              <a:rPr lang="en-US" altLang="ko-KR" dirty="0"/>
              <a:t>. </a:t>
            </a:r>
            <a:r>
              <a:rPr lang="ko-KR" altLang="en-US" dirty="0"/>
              <a:t>이는 플랫폼의 근본적인 특성에 기반합니다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55E4-F162-46F1-B028-F9B3DB39712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100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플랫폼 산업은 대부분 독과점 시장에 해당합니다</a:t>
            </a:r>
            <a:r>
              <a:rPr lang="en-US" altLang="ko-KR" dirty="0"/>
              <a:t>. </a:t>
            </a:r>
            <a:r>
              <a:rPr lang="ko-KR" altLang="en-US" dirty="0"/>
              <a:t>위 </a:t>
            </a:r>
            <a:r>
              <a:rPr lang="en-US" altLang="ko-KR" dirty="0"/>
              <a:t>4</a:t>
            </a:r>
            <a:r>
              <a:rPr lang="ko-KR" altLang="en-US" dirty="0"/>
              <a:t>개는 분야별 예시를 가져온 것입니다</a:t>
            </a:r>
            <a:r>
              <a:rPr lang="en-US" altLang="ko-KR" dirty="0"/>
              <a:t>. </a:t>
            </a:r>
            <a:r>
              <a:rPr lang="ko-KR" altLang="en-US" dirty="0"/>
              <a:t>이는 플랫폼의 근본적인 특성에 기반합니다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55E4-F162-46F1-B028-F9B3DB39712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855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55E4-F162-46F1-B028-F9B3DB39712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656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55E4-F162-46F1-B028-F9B3DB39712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320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55E4-F162-46F1-B028-F9B3DB39712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3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20292-DF2D-86AA-B92F-36F9E0911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DB4950-C12A-FF4C-9821-9F4F8E5E7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8DC7AE-41F6-2F7F-0ABD-965BC5A06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6B52-A27A-4760-BB77-8FE8EC1F78B4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9110CF-96FA-C840-8511-2F98C555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E95D41-B87D-E01D-6C6C-DBE766A7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E1E5-829F-45B1-843F-5BC44A1344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41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4F691E-65FD-A9B3-5023-3CF80C680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F8AC01-4E74-ABE9-1597-DBC992BAE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D23CD8-CA02-AA41-0E2F-057D28B38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6B52-A27A-4760-BB77-8FE8EC1F78B4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2C0175-15EB-1BCB-48D4-BBA59B33B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4EED5C-D352-FEBC-7185-C37B6B13E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E1E5-829F-45B1-843F-5BC44A1344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7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C0662-2607-B528-0B05-065D3880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5F9125-1A5B-46C7-CBDB-A373AE802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B3624A-7BF3-6141-5EAF-60BF7E183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6B52-A27A-4760-BB77-8FE8EC1F78B4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0CDC99-89E7-A420-C4C5-D53A00605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9B7729-E4E5-F3A6-C59E-9F7B547B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E1E5-829F-45B1-843F-5BC44A1344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08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999D40-A09A-1010-1B5C-8DD36311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124110-8C17-12F5-F8BB-131287331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B5CE67-B443-B078-98F9-55993DBE5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66B6C9-6CDA-753E-7690-6CBC6349A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6B52-A27A-4760-BB77-8FE8EC1F78B4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EB2D8D-73E9-9EB5-062B-88260892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0602E-13F1-5CE4-557B-602335C2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E1E5-829F-45B1-843F-5BC44A1344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6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97944-C7E1-C458-BDF6-1AB49461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99215C-FA62-B1B7-86DB-E0D865706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B9721A-A8CE-31CB-C624-C8A0471FE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E656BC-A837-3852-4CA6-13E8DC7BBC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8844AD-4D4A-761D-BB65-A3BEA428C6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7839AA0-203E-C376-CBC8-72FE7A41C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6B52-A27A-4760-BB77-8FE8EC1F78B4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EB5B47-87D7-C44C-FCCB-F6728DDBE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091E29-587D-DCA2-D007-19E61FBAA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E1E5-829F-45B1-843F-5BC44A1344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80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D1D1-007B-5EEB-BB41-56CE59C0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67678F-9EFD-D02F-CA0A-4A14CDED8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6B52-A27A-4760-BB77-8FE8EC1F78B4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7622B9-1369-0372-5B6E-4E6ED7543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2724A2-EB44-FD67-254E-12D8978C3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E1E5-829F-45B1-843F-5BC44A1344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03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39343BA-EC4D-34DF-8ABA-11786C02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6B52-A27A-4760-BB77-8FE8EC1F78B4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2DC5CC2-AAB9-0525-F339-FC5140F4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F4D7C4-AD41-1AC0-A910-9EF44070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E1E5-829F-45B1-843F-5BC44A1344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50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CE126-E684-06C5-21E6-71C793E1E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E79CB2-45DE-DFA4-84B8-23A09949E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A010A5-FCD1-6AD8-3C95-92E76C616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1451AA-FEF3-AAC3-60AA-E07004354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6B52-A27A-4760-BB77-8FE8EC1F78B4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641D92-9E22-3AE9-7068-91CA63E5D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C6749F-1A37-5E05-0A51-8939F66B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E1E5-829F-45B1-843F-5BC44A1344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56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D1106-9365-59D7-93FA-40741E0E2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048017-74C1-DED7-28C8-88BBE66FFC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FE96A2-633B-5909-D71B-2440B0297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6A8B85-F3AB-853B-90E7-3ECE62AEF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6B52-A27A-4760-BB77-8FE8EC1F78B4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F39B6A-2583-C454-B868-481FC09D8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06A6D8-6EC6-D43B-D583-9E410039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E1E5-829F-45B1-843F-5BC44A1344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146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90DB8-1D39-A07E-3977-97BD5D2C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502B83-C0A5-0156-506E-8A01630FF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52C460-69A6-0119-FBDA-5D5497A6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6B52-A27A-4760-BB77-8FE8EC1F78B4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017B84-0B82-7BA4-2F8B-FAC988FFF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075A79-FC38-F623-6D3F-C62740FA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E1E5-829F-45B1-843F-5BC44A1344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022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FBFCF0D-6815-5808-2B20-B1311F461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1067FC-0DF8-2267-6586-A9DA19731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E4F614-E14D-88F9-6E8E-DD71EA53F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D6B52-A27A-4760-BB77-8FE8EC1F78B4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E61106-85AF-9482-D0E2-E48AB3810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417FB1-86CD-C2AB-1045-FC1540A0E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E1E5-829F-45B1-843F-5BC44A1344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8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9634C1D-2039-06FC-D9CA-69B47A22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1E17EF-83A4-101E-6AC8-22C43ED11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EE9850-0275-5E5E-1EC1-F8085B368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D6B52-A27A-4760-BB77-8FE8EC1F78B4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386D21-D07A-8551-A317-F328A151A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8D5BD5-1647-9616-DB2A-216DE7995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AE1E5-829F-45B1-843F-5BC44A1344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92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무지개, 자연, 다채로움, 하늘이(가) 표시된 사진&#10;&#10;자동 생성된 설명">
            <a:extLst>
              <a:ext uri="{FF2B5EF4-FFF2-40B4-BE49-F238E27FC236}">
                <a16:creationId xmlns:a16="http://schemas.microsoft.com/office/drawing/2014/main" id="{EF113314-20A7-69E9-A6A9-D2E220A767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t="16181" b="27569"/>
          <a:stretch/>
        </p:blipFill>
        <p:spPr>
          <a:xfrm>
            <a:off x="-1" y="15508"/>
            <a:ext cx="12192001" cy="685799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F850638-C572-C485-54BC-984E9BE33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altLang="ko-KR">
                <a:solidFill>
                  <a:srgbClr val="FFFFFF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CNN</a:t>
            </a:r>
            <a:r>
              <a:rPr lang="ko-KR" altLang="en-US">
                <a:solidFill>
                  <a:srgbClr val="FFFFFF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을 이용한</a:t>
            </a:r>
            <a:br>
              <a:rPr lang="en-US" altLang="ko-KR">
                <a:solidFill>
                  <a:srgbClr val="FFFFFF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</a:br>
            <a:br>
              <a:rPr lang="en-US" altLang="ko-KR">
                <a:solidFill>
                  <a:srgbClr val="FFFFFF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</a:br>
            <a:r>
              <a:rPr lang="ko-KR" altLang="en-US">
                <a:solidFill>
                  <a:srgbClr val="FFFFFF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성별 분류 프로그램 제작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43AFEB-6A60-8341-D62C-4B050DE34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04310"/>
            <a:ext cx="9144000" cy="109839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FFFF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22118 </a:t>
            </a:r>
            <a:r>
              <a:rPr lang="ko-KR" altLang="en-US" dirty="0" err="1">
                <a:solidFill>
                  <a:srgbClr val="FFFFFF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심찬용</a:t>
            </a:r>
            <a:r>
              <a:rPr lang="en-US" altLang="ko-KR" dirty="0">
                <a:solidFill>
                  <a:srgbClr val="FFFFFF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, 22168 </a:t>
            </a:r>
            <a:r>
              <a:rPr lang="ko-KR" altLang="en-US" dirty="0">
                <a:solidFill>
                  <a:srgbClr val="FFFFFF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임지민</a:t>
            </a:r>
          </a:p>
        </p:txBody>
      </p:sp>
    </p:spTree>
    <p:extLst>
      <p:ext uri="{BB962C8B-B14F-4D97-AF65-F5344CB8AC3E}">
        <p14:creationId xmlns:p14="http://schemas.microsoft.com/office/powerpoint/2010/main" val="3192033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02216-4234-4996-E405-22CA1C33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딥러닝 기본 개념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3BDDE99-A48E-2E27-CD8E-C93E985D8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666" y="1690688"/>
            <a:ext cx="10515600" cy="1120245"/>
          </a:xfrm>
        </p:spPr>
        <p:txBody>
          <a:bodyPr>
            <a:noAutofit/>
          </a:bodyPr>
          <a:lstStyle/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인간의 두뇌에서 영감을 얻은 방식</a:t>
            </a:r>
            <a:endParaRPr lang="en-US" altLang="ko-KR" b="0" i="0" dirty="0">
              <a:solidFill>
                <a:srgbClr val="333333"/>
              </a:solidFill>
              <a:effectLst/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  <a:p>
            <a:endParaRPr lang="en-US" altLang="ko-KR" b="0" i="0" dirty="0">
              <a:solidFill>
                <a:srgbClr val="333333"/>
              </a:solidFill>
              <a:effectLst/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데이터를 처리하도록 컴퓨터를 가르치는 인공 지능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(AI)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방식</a:t>
            </a:r>
            <a:endParaRPr lang="en-US" altLang="ko-KR" b="0" i="0" dirty="0">
              <a:solidFill>
                <a:srgbClr val="333333"/>
              </a:solidFill>
              <a:effectLst/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  <a:p>
            <a:endParaRPr lang="en-US" altLang="ko-KR" dirty="0">
              <a:solidFill>
                <a:srgbClr val="333333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  <a:p>
            <a:endParaRPr lang="en-US" altLang="ko-KR" dirty="0">
              <a:solidFill>
                <a:srgbClr val="333333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  <a:p>
            <a:endParaRPr lang="en-US" altLang="ko-KR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pic>
        <p:nvPicPr>
          <p:cNvPr id="3078" name="Picture 6" descr="머신 러닝/딥 러닝] 인공신경망 (Artificial Neural Network, ANN)과 역전파 알고리즘  (Backpropagation Algorithm)">
            <a:extLst>
              <a:ext uri="{FF2B5EF4-FFF2-40B4-BE49-F238E27FC236}">
                <a16:creationId xmlns:a16="http://schemas.microsoft.com/office/drawing/2014/main" id="{567774EC-D112-0694-65FE-C8D55FB00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906" y="3259669"/>
            <a:ext cx="9203316" cy="2727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7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02216-4234-4996-E405-22CA1C33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CNN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이란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?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471DC5-D419-A42E-D9A6-202BA7DB3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Convolutional Neural Network</a:t>
            </a:r>
          </a:p>
          <a:p>
            <a:endParaRPr lang="en-US" altLang="ko-KR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  <a:p>
            <a:r>
              <a:rPr lang="ko-KR" altLang="en-US" dirty="0" err="1">
                <a:highlight>
                  <a:srgbClr val="FFFF00"/>
                </a:highlight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딥러닝</a:t>
            </a:r>
            <a:r>
              <a:rPr lang="ko-KR" altLang="en-US" dirty="0" err="1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의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종류 중 하나</a:t>
            </a:r>
            <a:endParaRPr lang="en-US" altLang="ko-KR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  <a:p>
            <a:endParaRPr lang="en-US" altLang="ko-KR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데이터에서 이미지 직접 학습 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/ </a:t>
            </a:r>
            <a:r>
              <a:rPr lang="ko-KR" altLang="en-US" dirty="0">
                <a:highlight>
                  <a:srgbClr val="FFFF00"/>
                </a:highlight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패턴을 통한 이미지 분류</a:t>
            </a:r>
            <a:endParaRPr lang="en-US" altLang="ko-KR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74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91609-29F6-AB71-1064-06FD7FBA9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411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CNN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이란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?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pic>
        <p:nvPicPr>
          <p:cNvPr id="1033" name="Picture 9" descr="KIEE - The Transactions of the Korean Institute of Electrical Engineers">
            <a:extLst>
              <a:ext uri="{FF2B5EF4-FFF2-40B4-BE49-F238E27FC236}">
                <a16:creationId xmlns:a16="http://schemas.microsoft.com/office/drawing/2014/main" id="{4D3E99AF-FB6D-BF16-23D7-20227A6EB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65974"/>
            <a:ext cx="9902993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4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599C17-E400-CB2F-F213-388C84122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CNN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속 수학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-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활성화 함수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083E47-CDFC-D4AD-A074-DE41EF70E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83" y="1390314"/>
            <a:ext cx="5018845" cy="470124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19BED8E-AC90-33EA-9124-CCACAE43F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90314"/>
            <a:ext cx="5018845" cy="485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15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7E772-C0DE-4635-AA54-B31F151A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CNN 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속 수학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-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최적화 알고리즘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353DAC5-88E1-19D5-47F3-23A690924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392"/>
            <a:ext cx="10515600" cy="4557712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  <a:sym typeface="Wingdings" panose="05000000000000000000" pitchFamily="2" charset="2"/>
              </a:rPr>
              <a:t>기본 전제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  <a:sym typeface="Wingdings" panose="05000000000000000000" pitchFamily="2" charset="2"/>
              </a:rPr>
              <a:t>: 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  <a:sym typeface="Wingdings" panose="05000000000000000000" pitchFamily="2" charset="2"/>
              </a:rPr>
              <a:t>손실함수를 최소화하자</a:t>
            </a: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  <a:sym typeface="Wingdings" panose="05000000000000000000" pitchFamily="2" charset="2"/>
              </a:rPr>
              <a:t>!</a:t>
            </a:r>
          </a:p>
          <a:p>
            <a:pPr marL="0" indent="0">
              <a:buNone/>
            </a:pPr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highlight>
                  <a:srgbClr val="FFFF00"/>
                </a:highlight>
                <a:latin typeface="나눔스퀘어OTF_ac Bold" panose="020B0600000101010101" pitchFamily="34" charset="-127"/>
                <a:ea typeface="나눔스퀘어OTF_ac Bold" panose="020B0600000101010101" pitchFamily="34" charset="-127"/>
                <a:sym typeface="Wingdings" panose="05000000000000000000" pitchFamily="2" charset="2"/>
              </a:rPr>
              <a:t>기울기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  <a:sym typeface="Wingdings" panose="05000000000000000000" pitchFamily="2" charset="2"/>
              </a:rPr>
              <a:t> 이용</a:t>
            </a:r>
            <a:endParaRPr lang="en-US" altLang="ko-KR" sz="2400" dirty="0">
              <a:latin typeface="나눔스퀘어OTF_ac Bold" panose="020B0600000101010101" pitchFamily="34" charset="-127"/>
              <a:ea typeface="나눔스퀘어OTF_ac Bold" panose="020B0600000101010101" pitchFamily="34" charset="-127"/>
              <a:sym typeface="Wingdings" panose="05000000000000000000" pitchFamily="2" charset="2"/>
            </a:endParaRPr>
          </a:p>
          <a:p>
            <a:endParaRPr lang="en-US" altLang="ko-KR" sz="2400" dirty="0">
              <a:latin typeface="나눔스퀘어OTF_ac Bold" panose="020B0600000101010101" pitchFamily="34" charset="-127"/>
              <a:ea typeface="나눔스퀘어OTF_ac Bold" panose="020B0600000101010101" pitchFamily="34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2400" dirty="0">
              <a:latin typeface="나눔스퀘어OTF_ac Bold" panose="020B0600000101010101" pitchFamily="34" charset="-127"/>
              <a:ea typeface="나눔스퀘어OTF_ac Bold" panose="020B0600000101010101" pitchFamily="34" charset="-127"/>
              <a:sym typeface="Wingdings" panose="05000000000000000000" pitchFamily="2" charset="2"/>
            </a:endParaRPr>
          </a:p>
          <a:p>
            <a:r>
              <a:rPr lang="en-US" altLang="ko-KR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  <a:sym typeface="Wingdings" panose="05000000000000000000" pitchFamily="2" charset="2"/>
              </a:rPr>
              <a:t>SGD(GD): </a:t>
            </a:r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  <a:sym typeface="Wingdings" panose="05000000000000000000" pitchFamily="2" charset="2"/>
              </a:rPr>
              <a:t>확률적 경사 </a:t>
            </a:r>
            <a:r>
              <a:rPr lang="ko-KR" altLang="en-US" sz="2400" dirty="0" err="1">
                <a:latin typeface="나눔스퀘어OTF_ac Bold" panose="020B0600000101010101" pitchFamily="34" charset="-127"/>
                <a:ea typeface="나눔스퀘어OTF_ac Bold" panose="020B0600000101010101" pitchFamily="34" charset="-127"/>
                <a:sym typeface="Wingdings" panose="05000000000000000000" pitchFamily="2" charset="2"/>
              </a:rPr>
              <a:t>하강법</a:t>
            </a:r>
            <a:endParaRPr lang="en-US" altLang="ko-KR" sz="2400" dirty="0">
              <a:latin typeface="나눔스퀘어OTF_ac Bold" panose="020B0600000101010101" pitchFamily="34" charset="-127"/>
              <a:ea typeface="나눔스퀘어OTF_ac Bold" panose="020B0600000101010101" pitchFamily="34" charset="-127"/>
              <a:sym typeface="Wingdings" panose="05000000000000000000" pitchFamily="2" charset="2"/>
            </a:endParaRPr>
          </a:p>
          <a:p>
            <a:endParaRPr lang="en-US" altLang="ko-KR" sz="2400" dirty="0">
              <a:latin typeface="나눔스퀘어OTF_ac Bold" panose="020B0600000101010101" pitchFamily="34" charset="-127"/>
              <a:ea typeface="나눔스퀘어OTF_ac Bold" panose="020B0600000101010101" pitchFamily="34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2400" dirty="0">
              <a:latin typeface="나눔스퀘어OTF_ac Bold" panose="020B0600000101010101" pitchFamily="34" charset="-127"/>
              <a:ea typeface="나눔스퀘어OTF_ac Bold" panose="020B0600000101010101" pitchFamily="34" charset="-127"/>
              <a:sym typeface="Wingdings" panose="05000000000000000000" pitchFamily="2" charset="2"/>
            </a:endParaRPr>
          </a:p>
          <a:p>
            <a:r>
              <a:rPr lang="en-US" altLang="ko-KR" sz="2400" dirty="0">
                <a:highlight>
                  <a:srgbClr val="FFFF00"/>
                </a:highlight>
                <a:latin typeface="나눔스퀘어OTF_ac Bold" panose="020B0600000101010101" pitchFamily="34" charset="-127"/>
                <a:ea typeface="나눔스퀘어OTF_ac Bold" panose="020B0600000101010101" pitchFamily="34" charset="-127"/>
                <a:sym typeface="Wingdings" panose="05000000000000000000" pitchFamily="2" charset="2"/>
              </a:rPr>
              <a:t>Adam: Momentum + RMSprop</a:t>
            </a:r>
            <a:endParaRPr lang="en-US" altLang="ko-KR" sz="2400" dirty="0">
              <a:highlight>
                <a:srgbClr val="FFFF00"/>
              </a:highlight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615B71D-03B2-F73E-15B6-6F96B6933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110" y="1887817"/>
            <a:ext cx="2826589" cy="101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경사하강법 - 리브레 위키">
            <a:extLst>
              <a:ext uri="{FF2B5EF4-FFF2-40B4-BE49-F238E27FC236}">
                <a16:creationId xmlns:a16="http://schemas.microsoft.com/office/drawing/2014/main" id="{546164F7-7797-4B2C-4BB7-366FD006D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243" y="3320011"/>
            <a:ext cx="4777407" cy="2814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23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357105B-59D8-D3F5-8551-2749587D3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64729" y="414149"/>
            <a:ext cx="4019800" cy="301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63A4557-C23F-5EDD-C2F4-C367C07F6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60" y="4159691"/>
            <a:ext cx="11411030" cy="2185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ost-thumbnail">
            <a:extLst>
              <a:ext uri="{FF2B5EF4-FFF2-40B4-BE49-F238E27FC236}">
                <a16:creationId xmlns:a16="http://schemas.microsoft.com/office/drawing/2014/main" id="{F15D3266-93D6-8F78-605A-38142A198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79" y="621686"/>
            <a:ext cx="5390772" cy="291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06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B1B01D43-26E8-E1D6-B9E2-58AF048FF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586" y="2993145"/>
            <a:ext cx="3770414" cy="3657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9FD117E0-304A-17F3-10ED-B607A2A15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068" y="365125"/>
            <a:ext cx="3770414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D5EE8978-E65F-EB96-AE32-88E24BCC3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997" y="3918035"/>
            <a:ext cx="4109651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CA6BA8D8-3DB2-98E6-0DC9-8A9E9FB4C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56" y="265653"/>
            <a:ext cx="3450971" cy="2743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80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D2336-323A-17F6-EEEA-B090DA730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67" y="2634192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코드 설명 및 시연 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+ 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시행 착오</a:t>
            </a:r>
          </a:p>
        </p:txBody>
      </p:sp>
    </p:spTree>
    <p:extLst>
      <p:ext uri="{BB962C8B-B14F-4D97-AF65-F5344CB8AC3E}">
        <p14:creationId xmlns:p14="http://schemas.microsoft.com/office/powerpoint/2010/main" val="178776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7E772-C0DE-4635-AA54-B31F151A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사진자료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1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298966A3-513A-CC17-3D54-F5CCF4BDA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73975"/>
            <a:ext cx="10383699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88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7E772-C0DE-4635-AA54-B31F151A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파일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E86A80-258B-2CDF-36D2-5DA88F453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54706"/>
            <a:ext cx="1051560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1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7E772-C0DE-4635-AA54-B31F151A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사진자료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2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pic>
        <p:nvPicPr>
          <p:cNvPr id="10" name="그림 9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B05B383D-54D9-30E2-D21D-AE7D0E814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602" y="2160564"/>
            <a:ext cx="8402223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6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F0049F-CD92-1848-A43E-4A808549D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사진자료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3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528F891B-D1BD-CA37-B543-4130D589F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325" y="1512888"/>
            <a:ext cx="8411749" cy="426779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7346283-0EC9-81B9-52FF-2F1CC35E9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056" y="3612531"/>
            <a:ext cx="1516143" cy="51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6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F0049F-CD92-1848-A43E-4A808549D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사진자료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4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15F23E1D-F1E8-3886-E93B-964EB9EB9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415" y="1808965"/>
            <a:ext cx="8088242" cy="453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8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87C8D-5646-DB6E-9967-71691781E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훈련과정</a:t>
            </a:r>
          </a:p>
        </p:txBody>
      </p:sp>
      <p:pic>
        <p:nvPicPr>
          <p:cNvPr id="5" name="그림 4" descr="텍스트, 스크린샷, 폰트, 문서이(가) 표시된 사진&#10;&#10;자동 생성된 설명">
            <a:extLst>
              <a:ext uri="{FF2B5EF4-FFF2-40B4-BE49-F238E27FC236}">
                <a16:creationId xmlns:a16="http://schemas.microsoft.com/office/drawing/2014/main" id="{05D693BC-C779-3C68-E818-610550C13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70" y="2730611"/>
            <a:ext cx="5922530" cy="2794289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EA0EDEA5-335E-0853-C4CC-83B402143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183" y="2730611"/>
            <a:ext cx="5474817" cy="2794289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C54C9603-6AC6-F863-A50B-B74AFC65C3ED}"/>
              </a:ext>
            </a:extLst>
          </p:cNvPr>
          <p:cNvSpPr/>
          <p:nvPr/>
        </p:nvSpPr>
        <p:spPr>
          <a:xfrm>
            <a:off x="5720404" y="3794123"/>
            <a:ext cx="617838" cy="667264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3FA466-6544-F02C-3A83-D95B813C6656}"/>
              </a:ext>
            </a:extLst>
          </p:cNvPr>
          <p:cNvSpPr txBox="1"/>
          <p:nvPr/>
        </p:nvSpPr>
        <p:spPr>
          <a:xfrm>
            <a:off x="635000" y="1952234"/>
            <a:ext cx="369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데이터 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12,000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DA0E7-2929-D176-9455-4415A080B6B4}"/>
              </a:ext>
            </a:extLst>
          </p:cNvPr>
          <p:cNvSpPr txBox="1"/>
          <p:nvPr/>
        </p:nvSpPr>
        <p:spPr>
          <a:xfrm>
            <a:off x="6934200" y="1952234"/>
            <a:ext cx="369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데이터 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6,000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378333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C50B8-1C10-E784-BF75-D7ADC013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테스트 파일 목록</a:t>
            </a:r>
          </a:p>
        </p:txBody>
      </p:sp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DDC01BCD-662C-1D0F-C049-1EAE48E23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758" y="2050603"/>
            <a:ext cx="3129405" cy="421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4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935B6-A29C-9B39-E027-0D542AC88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사진자료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5_1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pic>
        <p:nvPicPr>
          <p:cNvPr id="5" name="그림 4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75C8AD11-9C4B-A457-0B34-CE4E4C40D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56" y="1991830"/>
            <a:ext cx="8497486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23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A8244-7239-11EE-8D6B-145B189D1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사진자료</a:t>
            </a:r>
            <a:r>
              <a:rPr lang="en-US" altLang="ko-KR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5_2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103DA3-875D-4F0E-EA95-700353FBD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098" y="1690688"/>
            <a:ext cx="6763804" cy="430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1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6FDDB8-F9BF-1E23-4E05-755E1240C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사진자료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5_3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pic>
        <p:nvPicPr>
          <p:cNvPr id="5" name="그림 4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C967D2EC-FF65-E8EA-032C-B12DD3BE6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859" y="1879417"/>
            <a:ext cx="8230281" cy="461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2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8A0083-FEA3-C276-B26C-20762C406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사진자료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5_4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DE49275D-0DF8-FCAD-3292-1842A8686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309" y="1888231"/>
            <a:ext cx="7948978" cy="447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399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665FA-47AC-0353-FF7A-5E772AA15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사진자료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5_5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pic>
        <p:nvPicPr>
          <p:cNvPr id="5" name="내용 개체 틀 4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20CD8F55-151F-89D8-3452-8A559A8CE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547" y="1943607"/>
            <a:ext cx="7020905" cy="4115374"/>
          </a:xfrm>
        </p:spPr>
      </p:pic>
    </p:spTree>
    <p:extLst>
      <p:ext uri="{BB962C8B-B14F-4D97-AF65-F5344CB8AC3E}">
        <p14:creationId xmlns:p14="http://schemas.microsoft.com/office/powerpoint/2010/main" val="199349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49D0A4-330E-471C-D276-BAFF7A7C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사진자료</a:t>
            </a:r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5_6</a:t>
            </a:r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pic>
        <p:nvPicPr>
          <p:cNvPr id="5" name="그림 4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1FEF9294-2F23-4555-291D-A549E0394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999" y="1922631"/>
            <a:ext cx="6916115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14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227</Words>
  <Application>Microsoft Office PowerPoint</Application>
  <PresentationFormat>와이드스크린</PresentationFormat>
  <Paragraphs>56</Paragraphs>
  <Slides>22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나눔스퀘어OTF_ac Bold</vt:lpstr>
      <vt:lpstr>맑은 고딕</vt:lpstr>
      <vt:lpstr>Arial</vt:lpstr>
      <vt:lpstr>Office 테마</vt:lpstr>
      <vt:lpstr>CNN을 이용한  성별 분류 프로그램 제작</vt:lpstr>
      <vt:lpstr>딥러닝 기본 개념</vt:lpstr>
      <vt:lpstr>CNN이란?</vt:lpstr>
      <vt:lpstr>CNN이란?</vt:lpstr>
      <vt:lpstr>CNN 속 수학-활성화 함수</vt:lpstr>
      <vt:lpstr>CNN 속 수학-최적화 알고리즘</vt:lpstr>
      <vt:lpstr>PowerPoint 프레젠테이션</vt:lpstr>
      <vt:lpstr>PowerPoint 프레젠테이션</vt:lpstr>
      <vt:lpstr>코드 설명 및 시연 + 시행 착오</vt:lpstr>
      <vt:lpstr>사진자료1</vt:lpstr>
      <vt:lpstr>파일</vt:lpstr>
      <vt:lpstr>사진자료2</vt:lpstr>
      <vt:lpstr>사진자료3</vt:lpstr>
      <vt:lpstr>사진자료4</vt:lpstr>
      <vt:lpstr>훈련과정</vt:lpstr>
      <vt:lpstr>테스트 파일 목록</vt:lpstr>
      <vt:lpstr>사진자료5_1</vt:lpstr>
      <vt:lpstr>사진자료5_2</vt:lpstr>
      <vt:lpstr>사진자료5_3</vt:lpstr>
      <vt:lpstr>사진자료5_4</vt:lpstr>
      <vt:lpstr>사진자료5_5</vt:lpstr>
      <vt:lpstr>사진자료5_6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플랫폼 비즈니스의 경제적 분석</dc:title>
  <dc:creator>22726</dc:creator>
  <cp:lastModifiedBy>22726</cp:lastModifiedBy>
  <cp:revision>15</cp:revision>
  <dcterms:created xsi:type="dcterms:W3CDTF">2023-06-14T13:22:47Z</dcterms:created>
  <dcterms:modified xsi:type="dcterms:W3CDTF">2025-09-23T12:37:40Z</dcterms:modified>
</cp:coreProperties>
</file>